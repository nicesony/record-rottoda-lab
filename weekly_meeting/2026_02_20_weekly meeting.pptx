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3" r:id="rId6"/>
    <p:sldId id="259" r:id="rId7"/>
    <p:sldId id="271" r:id="rId8"/>
    <p:sldId id="272" r:id="rId9"/>
    <p:sldId id="260" r:id="rId10"/>
    <p:sldId id="261" r:id="rId11"/>
    <p:sldId id="264" r:id="rId12"/>
    <p:sldId id="266" r:id="rId13"/>
    <p:sldId id="265" r:id="rId14"/>
    <p:sldId id="267" r:id="rId15"/>
    <p:sldId id="268" r:id="rId16"/>
    <p:sldId id="270" r:id="rId17"/>
    <p:sldId id="273" r:id="rId18"/>
    <p:sldId id="269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86" d="100"/>
          <a:sy n="86" d="100"/>
        </p:scale>
        <p:origin x="31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CCA07-1AE8-C455-929C-D5321EF62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C861D8F-6BB6-3AD6-5134-2B2DE119F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EE4BA1-83E1-5F4F-E46E-03722C3B7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2BF2-860B-4ECC-A7D6-DC762C29C8FD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7720FA-5C70-F56C-8507-6860E61D1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658944-77C5-0EBD-AF5A-FEB65CF5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4CCC6-AEBC-4169-B0E3-0ADCAE017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107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CD5DEE-7BEB-D3AE-928F-C7F508D3B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A74338-8F0F-55CB-39A8-852832919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388538-823D-608E-B486-E5F1A9757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2BF2-860B-4ECC-A7D6-DC762C29C8FD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9A2E3B-0972-D60E-7E23-56BBB4C9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329AFF-D24A-DF28-58DF-47EFD5932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4CCC6-AEBC-4169-B0E3-0ADCAE017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554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75A2F-8DDB-FA8B-68A6-1E51965AA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A205EB-507F-C273-9938-77C8CF77A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14803A-2DB3-AE54-0E93-B4E14C913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2BF2-860B-4ECC-A7D6-DC762C29C8FD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4A980D-CE76-8343-2E00-D6DA594AA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3B9A28-E734-E258-1E95-12FD3A7F0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4CCC6-AEBC-4169-B0E3-0ADCAE017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025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B540A7-1584-856F-D4F1-43F2E08B3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142BEB-B458-EAAA-76C9-0ADCB717C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8618CA-54F2-8C06-241C-B74473EF5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CC5BC7-9449-3D97-639F-24212F4BB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2BF2-860B-4ECC-A7D6-DC762C29C8FD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325B1F-2E56-4641-5F4D-972DB0A5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291CB5-75BF-4965-6B6C-A25201AEA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4CCC6-AEBC-4169-B0E3-0ADCAE017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253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A10F2C-8C4E-EFE4-9884-B4E3F6F5F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EF1E92-FEDF-A8EE-FD55-9C619C59B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B69EBA-B992-D5C6-48A1-2E3F7F46C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3A50D4-3BEA-377A-6FF6-ACD7D48F1D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55BD53-F0D1-E135-07DC-F1C94C75F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0CF8BF7-FAA5-24E7-9C4C-A831FDF45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2BF2-860B-4ECC-A7D6-DC762C29C8FD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9B9B473-38DD-D84C-8F15-733A6302A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B5B7778-F9FF-F21E-2E87-3C157F8B6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4CCC6-AEBC-4169-B0E3-0ADCAE017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668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FD052F-2217-C63F-C1DB-290386E56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A032988-DA96-7D79-DBFC-BEF4890F9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2BF2-860B-4ECC-A7D6-DC762C29C8FD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B1D665-EF83-2430-7945-C3E56D981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DF5035-E7D6-FE3D-6926-55ED2545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4CCC6-AEBC-4169-B0E3-0ADCAE017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450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E4C7C58-CB5E-CFD5-3290-2B0EE423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2BF2-860B-4ECC-A7D6-DC762C29C8FD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E9F926-EE9A-70E1-0C24-CB15398D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15FD60-52DA-5745-CD3B-B7053C3A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4CCC6-AEBC-4169-B0E3-0ADCAE017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03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64F127-08AB-D375-ABEA-215545D7F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4C099C-B5AA-A2A9-3C8D-314A17FE7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E12A6E-F394-EEFE-092E-56A3CD2E1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350870-BB0A-EFC1-34C2-8B8E954F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2BF2-860B-4ECC-A7D6-DC762C29C8FD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134075-3E50-3EF1-1AB4-54589EB6A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525BAF-97C0-FE71-F44C-4D77F9907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4CCC6-AEBC-4169-B0E3-0ADCAE017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507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B4DD39-E332-8248-E5DA-D0A64FB43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2B8CDC-7A5B-71BA-CA20-5858F204C3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4D3457-F060-BC92-D0F0-36BADA673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DA8489-BC58-EFCB-BED1-CE6136BD0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2BF2-860B-4ECC-A7D6-DC762C29C8FD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DBC0B8-62A2-C1E7-1B6C-1B0BCB081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7AE4C2-4EBE-2429-7900-117466C88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4CCC6-AEBC-4169-B0E3-0ADCAE017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575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97D46E-F6CB-82C2-D1FE-71F97F9FA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1CFEBE-85F9-DA7C-0684-0176D138F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2B25E-3703-8911-436D-6873366DC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2BF2-860B-4ECC-A7D6-DC762C29C8FD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C12A18-9C96-EA82-FB81-1629C6713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076FEA-1B06-12AE-2952-3A09882E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4CCC6-AEBC-4169-B0E3-0ADCAE017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116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A6762BE-8C25-0E77-CD20-85CA5D36C4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41CEF5-EE65-4634-8D64-7012C1289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4A1AFF-2F1F-A9F5-BDB1-0271DF3F9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2BF2-860B-4ECC-A7D6-DC762C29C8FD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F043B1-22B5-8F63-97DB-98B3EB38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C5F43B-D616-4EFA-7EF3-74E306ED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4CCC6-AEBC-4169-B0E3-0ADCAE017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99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37C75D-F4EC-CB30-776E-96B974A8E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875753-C112-789F-45D3-CF8D861BB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828A3E-BB5C-D0BA-F299-2E5D187A8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62BF2-860B-4ECC-A7D6-DC762C29C8FD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C417CA-C8DA-416F-CBC9-61F6122CC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344347-84B8-8E62-A1EC-D52B151ED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4CCC6-AEBC-4169-B0E3-0ADCAE017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55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88392-954B-AE9E-060F-84C0880114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Weekly Meeting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0F2887-0CF2-7470-33A8-CB4D65826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882"/>
            <a:ext cx="9144000" cy="1655762"/>
          </a:xfrm>
        </p:spPr>
        <p:txBody>
          <a:bodyPr/>
          <a:lstStyle/>
          <a:p>
            <a:r>
              <a:rPr lang="en-US" altLang="ko-KR" dirty="0"/>
              <a:t>Name : GH.SON</a:t>
            </a:r>
          </a:p>
          <a:p>
            <a:r>
              <a:rPr lang="en-US" altLang="ko-KR" dirty="0"/>
              <a:t>DATE : 2026/02/23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3064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37A3D-7A0F-F6E8-E1D0-E01B67D59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3CE6EA-DFFE-DAE6-1329-E1D8ED1C5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2991"/>
            <a:ext cx="10515600" cy="48910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/>
              <a:t>1. Last week’s review</a:t>
            </a:r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Key Q&amp;A</a:t>
            </a:r>
          </a:p>
          <a:p>
            <a:pPr lvl="1"/>
            <a:r>
              <a:rPr lang="en-US" altLang="ko-KR" dirty="0"/>
              <a:t>Imitation Learning vs VLA</a:t>
            </a:r>
          </a:p>
          <a:p>
            <a:pPr lvl="1"/>
            <a:r>
              <a:rPr lang="en-US" altLang="ko-KR" dirty="0"/>
              <a:t>LLM vs VLM vs VLA: Inputs &amp; Outputs</a:t>
            </a:r>
          </a:p>
          <a:p>
            <a:pPr lvl="1"/>
            <a:r>
              <a:rPr lang="fr-FR" altLang="ko-KR" dirty="0"/>
              <a:t>VLA Architecture: Vision Encoder vs LLM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Future Research Area Overview(VLA &amp; VTLA)</a:t>
            </a:r>
          </a:p>
          <a:p>
            <a:pPr lvl="1"/>
            <a:r>
              <a:rPr lang="en-US" altLang="ko-KR" dirty="0"/>
              <a:t>Doosan robot</a:t>
            </a:r>
          </a:p>
          <a:p>
            <a:pPr lvl="1"/>
            <a:r>
              <a:rPr lang="en-US" altLang="ko-KR" dirty="0"/>
              <a:t>Koch1.1</a:t>
            </a:r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Question</a:t>
            </a:r>
          </a:p>
          <a:p>
            <a:pPr marL="457200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80872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34E888-C69E-8E36-851E-2950BD637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839" y="2687147"/>
            <a:ext cx="6511457" cy="1325563"/>
          </a:xfrm>
        </p:spPr>
        <p:txBody>
          <a:bodyPr/>
          <a:lstStyle/>
          <a:p>
            <a:r>
              <a:rPr lang="en-US" altLang="ko-KR" dirty="0"/>
              <a:t>1. Last week’s review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923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A0E5E-540C-604E-ED00-C47D4FABB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Last week’s 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78FE7F-FC5F-FD42-DB18-97B88B726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취업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Master</a:t>
            </a:r>
            <a:r>
              <a:rPr lang="ko-KR" altLang="en-US" dirty="0"/>
              <a:t> </a:t>
            </a:r>
            <a:r>
              <a:rPr lang="en-US" altLang="ko-KR" dirty="0"/>
              <a:t>or</a:t>
            </a:r>
            <a:r>
              <a:rPr lang="ko-KR" altLang="en-US" dirty="0"/>
              <a:t> </a:t>
            </a:r>
            <a:r>
              <a:rPr lang="en-US" altLang="ko-KR" dirty="0" err="1"/>
              <a:t>Ph.D</a:t>
            </a:r>
            <a:r>
              <a:rPr lang="en-US" altLang="ko-KR" dirty="0"/>
              <a:t>  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r>
              <a:rPr lang="ko-KR" altLang="en-US" b="1" dirty="0">
                <a:solidFill>
                  <a:schemeClr val="accent1"/>
                </a:solidFill>
              </a:rPr>
              <a:t>논리를 갖추는 것</a:t>
            </a:r>
            <a:endParaRPr lang="en-US" altLang="ko-KR" b="1" dirty="0">
              <a:solidFill>
                <a:schemeClr val="accent1"/>
              </a:solidFill>
            </a:endParaRP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연구 분야는 어떤 것으로 할지</a:t>
            </a:r>
            <a:r>
              <a:rPr lang="en-US" altLang="ko-KR" dirty="0"/>
              <a:t>?? </a:t>
            </a:r>
          </a:p>
          <a:p>
            <a:pPr lvl="2"/>
            <a:r>
              <a:rPr lang="en-US" altLang="ko-KR" b="1" dirty="0">
                <a:solidFill>
                  <a:schemeClr val="accent1"/>
                </a:solidFill>
              </a:rPr>
              <a:t>VTLA(Vision Tactile language Action) -&gt;</a:t>
            </a:r>
            <a:r>
              <a:rPr lang="ko-KR" altLang="en-US" b="1" dirty="0">
                <a:solidFill>
                  <a:schemeClr val="accent1"/>
                </a:solidFill>
              </a:rPr>
              <a:t> </a:t>
            </a:r>
            <a:r>
              <a:rPr lang="en-US" altLang="ko-KR" b="1" dirty="0">
                <a:solidFill>
                  <a:schemeClr val="accent1"/>
                </a:solidFill>
              </a:rPr>
              <a:t>Verify tactile sensor is improve some performance metrics or task(contact-rich)</a:t>
            </a:r>
          </a:p>
          <a:p>
            <a:pPr marL="914400" lvl="2" indent="0">
              <a:buNone/>
            </a:pPr>
            <a:endParaRPr lang="en-US" altLang="ko-KR" b="1" dirty="0">
              <a:solidFill>
                <a:schemeClr val="accent1"/>
              </a:solidFill>
            </a:endParaRPr>
          </a:p>
          <a:p>
            <a:pPr lvl="2"/>
            <a:r>
              <a:rPr lang="en-US" altLang="ko-KR" b="1" dirty="0"/>
              <a:t>Step by step : paper survey -&gt; implement code -&gt; implement robot -&gt; implement a prior work -&gt; add tactile sensor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74443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E5755-D937-5986-4B48-D52FBA6C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4C27B3-B239-4FFF-86D0-E4B2A03DA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34" y="2631729"/>
            <a:ext cx="4588651" cy="1325563"/>
          </a:xfrm>
        </p:spPr>
        <p:txBody>
          <a:bodyPr/>
          <a:lstStyle/>
          <a:p>
            <a:r>
              <a:rPr lang="en-US" altLang="ko-KR" dirty="0"/>
              <a:t>2. Key Q&amp;A</a:t>
            </a:r>
          </a:p>
        </p:txBody>
      </p:sp>
    </p:spTree>
    <p:extLst>
      <p:ext uri="{BB962C8B-B14F-4D97-AF65-F5344CB8AC3E}">
        <p14:creationId xmlns:p14="http://schemas.microsoft.com/office/powerpoint/2010/main" val="1365192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76B5ED-6537-8A8C-DE01-7230E2177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lmitation</a:t>
            </a:r>
            <a:r>
              <a:rPr lang="en-US" altLang="ko-KR" dirty="0"/>
              <a:t> Learning vs VLA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F1D600-3595-25E9-6FB2-0C559E12E643}"/>
              </a:ext>
            </a:extLst>
          </p:cNvPr>
          <p:cNvSpPr txBox="1"/>
          <p:nvPr/>
        </p:nvSpPr>
        <p:spPr>
          <a:xfrm>
            <a:off x="793863" y="1830620"/>
            <a:ext cx="219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Definition</a:t>
            </a:r>
            <a:endParaRPr lang="ko-KR" alt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0F1C06-0A23-D014-8033-1C9227F6EF1D}"/>
              </a:ext>
            </a:extLst>
          </p:cNvPr>
          <p:cNvSpPr txBox="1"/>
          <p:nvPr/>
        </p:nvSpPr>
        <p:spPr>
          <a:xfrm>
            <a:off x="1440872" y="2559037"/>
            <a:ext cx="99808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Imitation Learning </a:t>
            </a:r>
            <a:r>
              <a:rPr lang="en-US" altLang="ko-KR" sz="2000" dirty="0"/>
              <a:t>: </a:t>
            </a:r>
            <a:r>
              <a:rPr lang="ko-KR" altLang="en-US" dirty="0"/>
              <a:t>사람</a:t>
            </a:r>
            <a:r>
              <a:rPr lang="en-US" altLang="ko-KR" dirty="0"/>
              <a:t>(</a:t>
            </a:r>
            <a:r>
              <a:rPr lang="ko-KR" altLang="en-US" dirty="0"/>
              <a:t>또는 전문가 정책</a:t>
            </a:r>
            <a:r>
              <a:rPr lang="en-US" altLang="ko-KR" dirty="0"/>
              <a:t>, controller)</a:t>
            </a:r>
            <a:r>
              <a:rPr lang="ko-KR" altLang="en-US" dirty="0"/>
              <a:t>이 수행한 </a:t>
            </a:r>
            <a:r>
              <a:rPr lang="ko-KR" altLang="en-US" b="1" dirty="0"/>
              <a:t>데모</a:t>
            </a:r>
            <a:r>
              <a:rPr lang="en-US" altLang="ko-KR" b="1" dirty="0"/>
              <a:t>(demonstration)</a:t>
            </a:r>
            <a:r>
              <a:rPr lang="ko-KR" altLang="en-US" dirty="0"/>
              <a:t> 를 “</a:t>
            </a:r>
            <a:r>
              <a:rPr lang="ko-KR" altLang="en-US" dirty="0" err="1"/>
              <a:t>정답”으로</a:t>
            </a:r>
            <a:r>
              <a:rPr lang="ko-KR" altLang="en-US" dirty="0"/>
              <a:t> 보고</a:t>
            </a:r>
            <a:r>
              <a:rPr lang="en-US" altLang="ko-KR" dirty="0"/>
              <a:t>, </a:t>
            </a:r>
            <a:r>
              <a:rPr lang="ko-KR" altLang="en-US" dirty="0"/>
              <a:t>로봇이 </a:t>
            </a:r>
            <a:r>
              <a:rPr lang="ko-KR" altLang="en-US" b="1" dirty="0"/>
              <a:t>관측</a:t>
            </a:r>
            <a:r>
              <a:rPr lang="en-US" altLang="ko-KR" b="1" dirty="0"/>
              <a:t>(observation)</a:t>
            </a:r>
            <a:r>
              <a:rPr lang="ko-KR" altLang="en-US" dirty="0"/>
              <a:t> 을 입력으로 받아 </a:t>
            </a:r>
            <a:r>
              <a:rPr lang="ko-KR" altLang="en-US" b="1" dirty="0"/>
              <a:t>같은 행동</a:t>
            </a:r>
            <a:r>
              <a:rPr lang="en-US" altLang="ko-KR" b="1" dirty="0"/>
              <a:t>(action)</a:t>
            </a:r>
            <a:r>
              <a:rPr lang="ko-KR" altLang="en-US" dirty="0"/>
              <a:t> 을 내도록 학습하는 방법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17DD60-5E83-66DF-6383-57B783948504}"/>
              </a:ext>
            </a:extLst>
          </p:cNvPr>
          <p:cNvSpPr txBox="1"/>
          <p:nvPr/>
        </p:nvSpPr>
        <p:spPr>
          <a:xfrm>
            <a:off x="1440872" y="4145280"/>
            <a:ext cx="97757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VLA </a:t>
            </a:r>
            <a:r>
              <a:rPr lang="en-US" altLang="ko-KR" dirty="0"/>
              <a:t>: </a:t>
            </a:r>
            <a:r>
              <a:rPr lang="ko-KR" altLang="en-US" dirty="0"/>
              <a:t>로봇이 </a:t>
            </a:r>
            <a:r>
              <a:rPr lang="ko-KR" altLang="en-US" b="1" dirty="0"/>
              <a:t>시각</a:t>
            </a:r>
            <a:r>
              <a:rPr lang="en-US" altLang="ko-KR" b="1" dirty="0"/>
              <a:t>(vision)</a:t>
            </a:r>
            <a:r>
              <a:rPr lang="ko-KR" altLang="en-US" dirty="0"/>
              <a:t> 과 </a:t>
            </a:r>
            <a:r>
              <a:rPr lang="ko-KR" altLang="en-US" b="1" dirty="0"/>
              <a:t>자연어</a:t>
            </a:r>
            <a:r>
              <a:rPr lang="en-US" altLang="ko-KR" b="1" dirty="0"/>
              <a:t>(language)</a:t>
            </a:r>
            <a:r>
              <a:rPr lang="ko-KR" altLang="en-US" dirty="0"/>
              <a:t> 를 이해하고</a:t>
            </a:r>
            <a:r>
              <a:rPr lang="en-US" altLang="ko-KR" dirty="0"/>
              <a:t>, </a:t>
            </a:r>
            <a:r>
              <a:rPr lang="ko-KR" altLang="en-US" dirty="0"/>
              <a:t>그 지시를 수행하기 위한 </a:t>
            </a:r>
            <a:r>
              <a:rPr lang="ko-KR" altLang="en-US" b="1" dirty="0"/>
              <a:t>행동</a:t>
            </a:r>
            <a:r>
              <a:rPr lang="en-US" altLang="ko-KR" b="1" dirty="0"/>
              <a:t>(action)</a:t>
            </a:r>
            <a:r>
              <a:rPr lang="ko-KR" altLang="en-US" dirty="0"/>
              <a:t> 을 생성하도록 만든 모델</a:t>
            </a:r>
            <a:r>
              <a:rPr lang="en-US" altLang="ko-KR" dirty="0"/>
              <a:t>/</a:t>
            </a:r>
            <a:r>
              <a:rPr lang="ko-KR" altLang="en-US" dirty="0"/>
              <a:t>프레임워크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575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030B-9344-C6D0-39EB-D746A06D0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23B9DF-48E9-154F-FEE6-E42779234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lmitation</a:t>
            </a:r>
            <a:r>
              <a:rPr lang="en-US" altLang="ko-KR" dirty="0"/>
              <a:t> Learning vs VLA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B3CF2-D37A-F679-A61D-074ACFD96309}"/>
              </a:ext>
            </a:extLst>
          </p:cNvPr>
          <p:cNvSpPr txBox="1"/>
          <p:nvPr/>
        </p:nvSpPr>
        <p:spPr>
          <a:xfrm>
            <a:off x="788320" y="1690688"/>
            <a:ext cx="3595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Model input/output</a:t>
            </a:r>
            <a:endParaRPr lang="ko-KR" altLang="en-US" sz="2400" b="1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3811B83-F452-90E0-349C-BA6186EE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114959"/>
              </p:ext>
            </p:extLst>
          </p:nvPr>
        </p:nvGraphicFramePr>
        <p:xfrm>
          <a:off x="1089891" y="2216727"/>
          <a:ext cx="10220961" cy="407795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406987">
                  <a:extLst>
                    <a:ext uri="{9D8B030D-6E8A-4147-A177-3AD203B41FA5}">
                      <a16:colId xmlns:a16="http://schemas.microsoft.com/office/drawing/2014/main" val="163710216"/>
                    </a:ext>
                  </a:extLst>
                </a:gridCol>
                <a:gridCol w="3406987">
                  <a:extLst>
                    <a:ext uri="{9D8B030D-6E8A-4147-A177-3AD203B41FA5}">
                      <a16:colId xmlns:a16="http://schemas.microsoft.com/office/drawing/2014/main" val="775157260"/>
                    </a:ext>
                  </a:extLst>
                </a:gridCol>
                <a:gridCol w="3406987">
                  <a:extLst>
                    <a:ext uri="{9D8B030D-6E8A-4147-A177-3AD203B41FA5}">
                      <a16:colId xmlns:a16="http://schemas.microsoft.com/office/drawing/2014/main" val="2699079286"/>
                    </a:ext>
                  </a:extLst>
                </a:gridCol>
              </a:tblGrid>
              <a:tr h="690182"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Imitation Learning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VLA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916117"/>
                  </a:ext>
                </a:extLst>
              </a:tr>
              <a:tr h="498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Input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Image &amp; states or states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Image &amp; language &amp; states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836711"/>
                  </a:ext>
                </a:extLst>
              </a:tr>
              <a:tr h="4804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output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Action(EE POSE, Joint q*)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Action(EE POSE, Joint q*)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435302"/>
                  </a:ext>
                </a:extLst>
              </a:tr>
              <a:tr h="995665"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사람이 한 데모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상태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관측 → 행동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를 그대로 따라 배우는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범용성 있는 모델 구축이 목표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097824"/>
                  </a:ext>
                </a:extLst>
              </a:tr>
              <a:tr h="944166"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한계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1. Task</a:t>
                      </a:r>
                      <a:r>
                        <a:rPr lang="ko-KR" altLang="en-US" dirty="0"/>
                        <a:t>마다 데이터가 너무 많이 든다</a:t>
                      </a:r>
                      <a:r>
                        <a:rPr lang="en-US" altLang="ko-KR" dirty="0"/>
                        <a:t>. </a:t>
                      </a:r>
                    </a:p>
                    <a:p>
                      <a:pPr algn="l" latinLnBrk="1"/>
                      <a:r>
                        <a:rPr lang="en-US" altLang="ko-KR" dirty="0"/>
                        <a:t>2. </a:t>
                      </a:r>
                      <a:r>
                        <a:rPr lang="ko-KR" altLang="en-US" dirty="0"/>
                        <a:t>일반화가 약하고 데이터 수집 비용이 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모델이 문장을 “아는 </a:t>
                      </a:r>
                      <a:r>
                        <a:rPr lang="ko-KR" altLang="en-US" dirty="0" err="1"/>
                        <a:t>척”해도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b="1" dirty="0"/>
                        <a:t>로봇 행동으로 정확히 연결</a:t>
                      </a:r>
                      <a:r>
                        <a:rPr lang="en-US" altLang="ko-KR" b="1" dirty="0"/>
                        <a:t>(grounding)</a:t>
                      </a:r>
                      <a:r>
                        <a:rPr lang="ko-KR" altLang="en-US" dirty="0"/>
                        <a:t>이 안 될 수 있음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252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106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7FF7D-1BB0-3B20-20DD-02FF714A8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5B65C-E6B3-8357-34AA-2E3EDC597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lmitation</a:t>
            </a:r>
            <a:r>
              <a:rPr lang="en-US" altLang="ko-KR" dirty="0"/>
              <a:t> Learning vs VLA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563F9-BC4F-BABF-C082-00710EBF06B6}"/>
              </a:ext>
            </a:extLst>
          </p:cNvPr>
          <p:cNvSpPr txBox="1"/>
          <p:nvPr/>
        </p:nvSpPr>
        <p:spPr>
          <a:xfrm>
            <a:off x="1091738" y="2133600"/>
            <a:ext cx="96760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Il</a:t>
            </a:r>
            <a:r>
              <a:rPr lang="ko-KR" altLang="en-US" sz="2000" dirty="0"/>
              <a:t>의 한계 </a:t>
            </a:r>
            <a:r>
              <a:rPr lang="en-US" altLang="ko-KR" sz="2000" dirty="0"/>
              <a:t>: </a:t>
            </a:r>
          </a:p>
          <a:p>
            <a:pPr marL="285750" indent="-285750">
              <a:buFontTx/>
              <a:buChar char="-"/>
            </a:pPr>
            <a:r>
              <a:rPr lang="ko-KR" altLang="en-US" sz="2000" dirty="0"/>
              <a:t>이미지에서 픽셀 패턴 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행동으로 학습하기 쉬움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sz="2000" dirty="0">
                <a:sym typeface="Wingdings" panose="05000000000000000000" pitchFamily="2" charset="2"/>
              </a:rPr>
              <a:t>환경이 조금만 변경 시</a:t>
            </a:r>
            <a:r>
              <a:rPr lang="en-US" altLang="ko-KR" sz="2000" dirty="0">
                <a:sym typeface="Wingdings" panose="05000000000000000000" pitchFamily="2" charset="2"/>
              </a:rPr>
              <a:t>(</a:t>
            </a:r>
            <a:r>
              <a:rPr lang="ko-KR" altLang="en-US" sz="2000" dirty="0">
                <a:sym typeface="Wingdings" panose="05000000000000000000" pitchFamily="2" charset="2"/>
              </a:rPr>
              <a:t>배경</a:t>
            </a:r>
            <a:r>
              <a:rPr lang="en-US" altLang="ko-KR" sz="2000" dirty="0">
                <a:sym typeface="Wingdings" panose="05000000000000000000" pitchFamily="2" charset="2"/>
              </a:rPr>
              <a:t>/</a:t>
            </a:r>
            <a:r>
              <a:rPr lang="ko-KR" altLang="en-US" sz="2000" dirty="0">
                <a:sym typeface="Wingdings" panose="05000000000000000000" pitchFamily="2" charset="2"/>
              </a:rPr>
              <a:t>조명</a:t>
            </a:r>
            <a:r>
              <a:rPr lang="en-US" altLang="ko-KR" sz="2000" dirty="0">
                <a:sym typeface="Wingdings" panose="05000000000000000000" pitchFamily="2" charset="2"/>
              </a:rPr>
              <a:t>/</a:t>
            </a:r>
            <a:r>
              <a:rPr lang="ko-KR" altLang="en-US" sz="2000" dirty="0">
                <a:sym typeface="Wingdings" panose="05000000000000000000" pitchFamily="2" charset="2"/>
              </a:rPr>
              <a:t>물체 변화</a:t>
            </a:r>
            <a:r>
              <a:rPr lang="en-US" altLang="ko-KR" sz="2000" dirty="0">
                <a:sym typeface="Wingdings" panose="05000000000000000000" pitchFamily="2" charset="2"/>
              </a:rPr>
              <a:t>) </a:t>
            </a:r>
            <a:r>
              <a:rPr lang="ko-KR" altLang="en-US" sz="2000" dirty="0">
                <a:sym typeface="Wingdings" panose="05000000000000000000" pitchFamily="2" charset="2"/>
              </a:rPr>
              <a:t>망가지는 경우가 많음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r>
              <a:rPr lang="en-US" altLang="ko-KR" sz="2000" dirty="0">
                <a:sym typeface="Wingdings" panose="05000000000000000000" pitchFamily="2" charset="2"/>
              </a:rPr>
              <a:t>  VLA</a:t>
            </a:r>
            <a:r>
              <a:rPr lang="ko-KR" altLang="en-US" sz="2000" dirty="0">
                <a:sym typeface="Wingdings" panose="05000000000000000000" pitchFamily="2" charset="2"/>
              </a:rPr>
              <a:t>는 언어 비전 사전학습 모델을 이용해 </a:t>
            </a:r>
            <a:r>
              <a:rPr lang="en-US" altLang="ko-KR" sz="2000" dirty="0">
                <a:sym typeface="Wingdings" panose="05000000000000000000" pitchFamily="2" charset="2"/>
              </a:rPr>
              <a:t>“ </a:t>
            </a:r>
            <a:r>
              <a:rPr lang="ko-KR" altLang="en-US" sz="2000" dirty="0">
                <a:sym typeface="Wingdings" panose="05000000000000000000" pitchFamily="2" charset="2"/>
              </a:rPr>
              <a:t>컵</a:t>
            </a:r>
            <a:r>
              <a:rPr lang="en-US" altLang="ko-KR" sz="2000" dirty="0">
                <a:sym typeface="Wingdings" panose="05000000000000000000" pitchFamily="2" charset="2"/>
              </a:rPr>
              <a:t>, </a:t>
            </a:r>
            <a:r>
              <a:rPr lang="ko-KR" altLang="en-US" sz="2000" dirty="0">
                <a:sym typeface="Wingdings" panose="05000000000000000000" pitchFamily="2" charset="2"/>
              </a:rPr>
              <a:t>책상</a:t>
            </a:r>
            <a:r>
              <a:rPr lang="en-US" altLang="ko-KR" sz="2000" dirty="0">
                <a:sym typeface="Wingdings" panose="05000000000000000000" pitchFamily="2" charset="2"/>
              </a:rPr>
              <a:t>, </a:t>
            </a:r>
            <a:r>
              <a:rPr lang="ko-KR" altLang="en-US" sz="2000" dirty="0">
                <a:sym typeface="Wingdings" panose="05000000000000000000" pitchFamily="2" charset="2"/>
              </a:rPr>
              <a:t>잡다</a:t>
            </a:r>
            <a:r>
              <a:rPr lang="en-US" altLang="ko-KR" sz="2000" dirty="0">
                <a:sym typeface="Wingdings" panose="05000000000000000000" pitchFamily="2" charset="2"/>
              </a:rPr>
              <a:t>. </a:t>
            </a:r>
            <a:r>
              <a:rPr lang="ko-KR" altLang="en-US" sz="2000" dirty="0">
                <a:sym typeface="Wingdings" panose="05000000000000000000" pitchFamily="2" charset="2"/>
              </a:rPr>
              <a:t>올리다</a:t>
            </a:r>
            <a:r>
              <a:rPr lang="en-US" altLang="ko-KR" sz="2000" dirty="0">
                <a:sym typeface="Wingdings" panose="05000000000000000000" pitchFamily="2" charset="2"/>
              </a:rPr>
              <a:t>.” </a:t>
            </a:r>
            <a:r>
              <a:rPr lang="ko-KR" altLang="en-US" sz="2000" dirty="0">
                <a:sym typeface="Wingdings" panose="05000000000000000000" pitchFamily="2" charset="2"/>
              </a:rPr>
              <a:t>같은 의미 단위로 세상을 보게 만들고자 함</a:t>
            </a:r>
            <a:r>
              <a:rPr lang="en-US" altLang="ko-KR" sz="2000" dirty="0">
                <a:sym typeface="Wingdings" panose="05000000000000000000" pitchFamily="2" charset="2"/>
              </a:rPr>
              <a:t>.  </a:t>
            </a:r>
            <a:r>
              <a:rPr lang="ko-KR" altLang="en-US" sz="2000" dirty="0">
                <a:sym typeface="Wingdings" panose="05000000000000000000" pitchFamily="2" charset="2"/>
              </a:rPr>
              <a:t>그 의미를 </a:t>
            </a:r>
            <a:r>
              <a:rPr lang="en-US" altLang="ko-KR" sz="2000" dirty="0">
                <a:sym typeface="Wingdings" panose="05000000000000000000" pitchFamily="2" charset="2"/>
              </a:rPr>
              <a:t>action</a:t>
            </a:r>
            <a:r>
              <a:rPr lang="ko-KR" altLang="en-US" sz="2000" dirty="0">
                <a:sym typeface="Wingdings" panose="05000000000000000000" pitchFamily="2" charset="2"/>
              </a:rPr>
              <a:t>으로 연결하려는 시도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14951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FD2F3D-2976-CAD7-276F-5C7560F1B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038"/>
            <a:ext cx="10515600" cy="1325563"/>
          </a:xfrm>
        </p:spPr>
        <p:txBody>
          <a:bodyPr/>
          <a:lstStyle/>
          <a:p>
            <a:r>
              <a:rPr lang="en-US" altLang="ko-KR" dirty="0"/>
              <a:t>LLM vs VLM vs VLA: Inputs &amp; Outputs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8068BE35-40FA-B971-E89B-ECD3A1B446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2010649"/>
              </p:ext>
            </p:extLst>
          </p:nvPr>
        </p:nvGraphicFramePr>
        <p:xfrm>
          <a:off x="979517" y="1435332"/>
          <a:ext cx="10367356" cy="526387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17963">
                  <a:extLst>
                    <a:ext uri="{9D8B030D-6E8A-4147-A177-3AD203B41FA5}">
                      <a16:colId xmlns:a16="http://schemas.microsoft.com/office/drawing/2014/main" val="974251224"/>
                    </a:ext>
                  </a:extLst>
                </a:gridCol>
                <a:gridCol w="2327564">
                  <a:extLst>
                    <a:ext uri="{9D8B030D-6E8A-4147-A177-3AD203B41FA5}">
                      <a16:colId xmlns:a16="http://schemas.microsoft.com/office/drawing/2014/main" val="3177161148"/>
                    </a:ext>
                  </a:extLst>
                </a:gridCol>
                <a:gridCol w="2698865">
                  <a:extLst>
                    <a:ext uri="{9D8B030D-6E8A-4147-A177-3AD203B41FA5}">
                      <a16:colId xmlns:a16="http://schemas.microsoft.com/office/drawing/2014/main" val="485189518"/>
                    </a:ext>
                  </a:extLst>
                </a:gridCol>
                <a:gridCol w="3622964">
                  <a:extLst>
                    <a:ext uri="{9D8B030D-6E8A-4147-A177-3AD203B41FA5}">
                      <a16:colId xmlns:a16="http://schemas.microsoft.com/office/drawing/2014/main" val="3061591402"/>
                    </a:ext>
                  </a:extLst>
                </a:gridCol>
              </a:tblGrid>
              <a:tr h="1157684"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LLM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VLM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VLA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631242"/>
                  </a:ext>
                </a:extLst>
              </a:tr>
              <a:tr h="1138693"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Input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Language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Vision &amp; Language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Vision &amp; </a:t>
                      </a:r>
                      <a:r>
                        <a:rPr lang="en-US" altLang="ko-KR" dirty="0" err="1"/>
                        <a:t>Langues</a:t>
                      </a:r>
                      <a:r>
                        <a:rPr lang="en-US" altLang="ko-KR" dirty="0"/>
                        <a:t> &amp; State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11881"/>
                  </a:ext>
                </a:extLst>
              </a:tr>
              <a:tr h="1138693"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Output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Language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???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Action(ex) EE Pose, joint q*)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790092"/>
                  </a:ext>
                </a:extLst>
              </a:tr>
              <a:tr h="5384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Model Ex)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GPT-4 / GPT-3.5</a:t>
                      </a:r>
                    </a:p>
                    <a:p>
                      <a:pPr algn="ctr" latinLnBrk="1"/>
                      <a:r>
                        <a:rPr lang="en-US" altLang="ko-KR" dirty="0"/>
                        <a:t>Llama 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CLIP / </a:t>
                      </a:r>
                      <a:r>
                        <a:rPr lang="en-US" altLang="ko-KR" b="1" dirty="0" err="1"/>
                        <a:t>SigLIP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dirty="0"/>
                        <a:t>BLIP-2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b="1" dirty="0"/>
                        <a:t>RT-1 / RT-2</a:t>
                      </a:r>
                      <a:r>
                        <a:rPr lang="en-US" altLang="ko-KR" b="0" dirty="0"/>
                        <a:t>, </a:t>
                      </a:r>
                      <a:r>
                        <a:rPr lang="en-US" altLang="ko-KR" b="1" dirty="0"/>
                        <a:t>Octo</a:t>
                      </a:r>
                      <a:r>
                        <a:rPr lang="en-US" altLang="ko-KR" b="0" dirty="0"/>
                        <a:t>, </a:t>
                      </a:r>
                      <a:r>
                        <a:rPr lang="en-US" altLang="ko-KR" dirty="0" err="1"/>
                        <a:t>SmolVLA</a:t>
                      </a:r>
                      <a:endParaRPr lang="en-US" altLang="ko-KR" dirty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516159"/>
                  </a:ext>
                </a:extLst>
              </a:tr>
              <a:tr h="5693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TASK EX)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Q&amp;A / </a:t>
                      </a:r>
                      <a:r>
                        <a:rPr lang="ko-KR" altLang="en-US" dirty="0"/>
                        <a:t>요약 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번역</a:t>
                      </a:r>
                    </a:p>
                    <a:p>
                      <a:r>
                        <a:rPr lang="ko-KR" altLang="en-US" dirty="0"/>
                        <a:t>코드 생성 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디버깅</a:t>
                      </a:r>
                    </a:p>
                    <a:p>
                      <a:r>
                        <a:rPr lang="ko-KR" altLang="en-US" dirty="0"/>
                        <a:t>계획 수립</a:t>
                      </a:r>
                      <a:r>
                        <a:rPr lang="en-US" altLang="ko-KR" dirty="0"/>
                        <a:t>(Planning)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Image Captioning</a:t>
                      </a:r>
                    </a:p>
                    <a:p>
                      <a:pPr algn="ctr" latinLnBrk="1"/>
                      <a:r>
                        <a:rPr lang="en-US" altLang="ko-KR" dirty="0"/>
                        <a:t>VQA (Visual Question Answering)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Pick &amp; Place / Sorting </a:t>
                      </a:r>
                    </a:p>
                    <a:p>
                      <a:pPr algn="ctr" latinLnBrk="1"/>
                      <a:r>
                        <a:rPr lang="en-US" altLang="ko-KR" dirty="0"/>
                        <a:t>Long-horizon manipulation</a:t>
                      </a:r>
                    </a:p>
                    <a:p>
                      <a:pPr algn="ctr" latinLnBrk="1"/>
                      <a:r>
                        <a:rPr lang="en-US" altLang="ko-KR" dirty="0"/>
                        <a:t>Contact-rich: insertion / stacking / button press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275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166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7401E-E9F9-29A7-7D2D-64FD3FE48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ko-KR" dirty="0"/>
              <a:t>VLA Architecture: Vision Encoder vs LLM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843D0D-F227-8BE2-AC5F-1C88B77F0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RT-1</a:t>
            </a:r>
            <a:r>
              <a:rPr lang="en-US" altLang="ko-KR" dirty="0"/>
              <a:t> : </a:t>
            </a:r>
            <a:r>
              <a:rPr lang="en-US" altLang="ko-KR" sz="2400" dirty="0" err="1"/>
              <a:t>FiLM</a:t>
            </a:r>
            <a:r>
              <a:rPr lang="en-US" altLang="ko-KR" sz="2400" dirty="0"/>
              <a:t>-conditioned </a:t>
            </a:r>
            <a:r>
              <a:rPr lang="en-US" altLang="ko-KR" sz="2400" dirty="0" err="1"/>
              <a:t>EfficientNet</a:t>
            </a:r>
            <a:r>
              <a:rPr lang="en-US" altLang="ko-KR" sz="2400" dirty="0"/>
              <a:t> </a:t>
            </a: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en-US" altLang="ko-KR" sz="2400" dirty="0" err="1">
                <a:sym typeface="Wingdings" panose="05000000000000000000" pitchFamily="2" charset="2"/>
              </a:rPr>
              <a:t>TokenLearner</a:t>
            </a:r>
            <a:r>
              <a:rPr lang="en-US" altLang="ko-KR" sz="2400" dirty="0">
                <a:sym typeface="Wingdings" panose="05000000000000000000" pitchFamily="2" charset="2"/>
              </a:rPr>
              <a:t>  Transformer</a:t>
            </a:r>
            <a:endParaRPr lang="en-US" altLang="ko-KR" dirty="0"/>
          </a:p>
          <a:p>
            <a:r>
              <a:rPr lang="en-US" altLang="ko-KR" b="1" dirty="0"/>
              <a:t>RT-2</a:t>
            </a:r>
            <a:r>
              <a:rPr lang="en-US" altLang="ko-KR" dirty="0"/>
              <a:t> : co-fine-tunes large </a:t>
            </a:r>
            <a:r>
              <a:rPr lang="en-US" altLang="ko-KR" dirty="0" err="1"/>
              <a:t>pretrainedVLMs</a:t>
            </a:r>
            <a:r>
              <a:rPr lang="en-US" altLang="ko-KR" dirty="0"/>
              <a:t>(</a:t>
            </a:r>
            <a:r>
              <a:rPr lang="en-US" altLang="ko-KR" dirty="0" err="1"/>
              <a:t>PaLM</a:t>
            </a:r>
            <a:r>
              <a:rPr lang="en-US" altLang="ko-KR" dirty="0"/>
              <a:t>-E)</a:t>
            </a:r>
          </a:p>
          <a:p>
            <a:r>
              <a:rPr lang="en-US" altLang="ko-KR" b="1" dirty="0" err="1"/>
              <a:t>SmalVLA</a:t>
            </a:r>
            <a:r>
              <a:rPr lang="en-US" altLang="ko-KR" dirty="0"/>
              <a:t> :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sz="2400" dirty="0"/>
              <a:t>VLM </a:t>
            </a:r>
            <a:r>
              <a:rPr lang="ko-KR" altLang="en-US" sz="2400" dirty="0"/>
              <a:t>백본</a:t>
            </a:r>
            <a:r>
              <a:rPr lang="en-US" altLang="ko-KR" sz="2400" dirty="0"/>
              <a:t>:</a:t>
            </a:r>
            <a:r>
              <a:rPr lang="ko-KR" altLang="en-US" sz="2400" dirty="0"/>
              <a:t> </a:t>
            </a:r>
            <a:r>
              <a:rPr lang="en-US" altLang="ko-KR" sz="2400" dirty="0"/>
              <a:t>SmolVLM2</a:t>
            </a:r>
            <a:r>
              <a:rPr lang="en-US" altLang="ko-KR" sz="2400" b="1" dirty="0"/>
              <a:t>, </a:t>
            </a:r>
            <a:r>
              <a:rPr lang="en-US" altLang="ko-KR" sz="2400" dirty="0"/>
              <a:t>vision </a:t>
            </a:r>
            <a:r>
              <a:rPr lang="ko-KR" altLang="en-US" sz="2400" dirty="0"/>
              <a:t>인코더 </a:t>
            </a:r>
            <a:r>
              <a:rPr lang="en-US" altLang="ko-KR" sz="2400" dirty="0" err="1"/>
              <a:t>SigLIP</a:t>
            </a:r>
            <a:r>
              <a:rPr lang="en-US" altLang="ko-KR" sz="2400" dirty="0"/>
              <a:t>, </a:t>
            </a:r>
            <a:r>
              <a:rPr lang="ko-KR" altLang="en-US" sz="2400" dirty="0"/>
              <a:t>자연어 </a:t>
            </a:r>
            <a:r>
              <a:rPr lang="ko-KR" altLang="en-US" sz="2400" dirty="0" err="1"/>
              <a:t>디코더</a:t>
            </a:r>
            <a:r>
              <a:rPr lang="ko-KR" altLang="en-US" sz="2400" dirty="0"/>
              <a:t> </a:t>
            </a:r>
            <a:r>
              <a:rPr lang="en-US" altLang="ko-KR" sz="2400" dirty="0"/>
              <a:t>smolLM2</a:t>
            </a:r>
          </a:p>
          <a:p>
            <a:endParaRPr lang="en-US" altLang="ko-KR" sz="2400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sz="1800" dirty="0"/>
              <a:t>OXE, Open-VLA, Pi-zero , Groot series</a:t>
            </a:r>
          </a:p>
        </p:txBody>
      </p:sp>
    </p:spTree>
    <p:extLst>
      <p:ext uri="{BB962C8B-B14F-4D97-AF65-F5344CB8AC3E}">
        <p14:creationId xmlns:p14="http://schemas.microsoft.com/office/powerpoint/2010/main" val="413755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07F94-20C4-7881-4172-9EE540AF4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3F412-3755-D594-0494-C3045175D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036" y="2681606"/>
            <a:ext cx="11055927" cy="1325563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3. Future Research Area Overview(VLA &amp; VTLA)</a:t>
            </a:r>
          </a:p>
        </p:txBody>
      </p:sp>
    </p:spTree>
    <p:extLst>
      <p:ext uri="{BB962C8B-B14F-4D97-AF65-F5344CB8AC3E}">
        <p14:creationId xmlns:p14="http://schemas.microsoft.com/office/powerpoint/2010/main" val="3883943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F0D90-6788-EB19-87DE-0F18AFD4F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Koch1.1</a:t>
            </a:r>
            <a:endParaRPr lang="ko-KR" altLang="en-US" dirty="0"/>
          </a:p>
        </p:txBody>
      </p:sp>
      <p:pic>
        <p:nvPicPr>
          <p:cNvPr id="5" name="내용 개체 틀 4" descr="케이블, 기계, 전기 배선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9D4A79-CA63-6E11-AFA3-BB63CDBA3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0264" y="2057490"/>
            <a:ext cx="4985051" cy="3689376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04A03E1-B184-9DB4-9342-F2834B4FF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720090"/>
              </p:ext>
            </p:extLst>
          </p:nvPr>
        </p:nvGraphicFramePr>
        <p:xfrm>
          <a:off x="6600304" y="1945915"/>
          <a:ext cx="5275812" cy="40555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79667">
                  <a:extLst>
                    <a:ext uri="{9D8B030D-6E8A-4147-A177-3AD203B41FA5}">
                      <a16:colId xmlns:a16="http://schemas.microsoft.com/office/drawing/2014/main" val="2007706032"/>
                    </a:ext>
                  </a:extLst>
                </a:gridCol>
                <a:gridCol w="3796145">
                  <a:extLst>
                    <a:ext uri="{9D8B030D-6E8A-4147-A177-3AD203B41FA5}">
                      <a16:colId xmlns:a16="http://schemas.microsoft.com/office/drawing/2014/main" val="1242257670"/>
                    </a:ext>
                  </a:extLst>
                </a:gridCol>
              </a:tblGrid>
              <a:tr h="777194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Koch1.1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283747"/>
                  </a:ext>
                </a:extLst>
              </a:tr>
              <a:tr h="787989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AXES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6(</a:t>
                      </a:r>
                      <a:r>
                        <a:rPr lang="ko-KR" altLang="en-US" dirty="0"/>
                        <a:t>팔 </a:t>
                      </a:r>
                      <a:r>
                        <a:rPr lang="en-US" altLang="ko-KR" dirty="0"/>
                        <a:t>5-DOF, Gripper 1-DOF)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114866"/>
                  </a:ext>
                </a:extLst>
              </a:tr>
              <a:tr h="787989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페이로드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공개 </a:t>
                      </a:r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34014"/>
                  </a:ext>
                </a:extLst>
              </a:tr>
              <a:tr h="787989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도달범위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공개 </a:t>
                      </a:r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15478"/>
                  </a:ext>
                </a:extLst>
              </a:tr>
              <a:tr h="787989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반복정밀도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공개 </a:t>
                      </a:r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5217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1D275EB-0FBC-0445-7146-8D0E041A4F4C}"/>
              </a:ext>
            </a:extLst>
          </p:cNvPr>
          <p:cNvSpPr txBox="1"/>
          <p:nvPr/>
        </p:nvSpPr>
        <p:spPr>
          <a:xfrm>
            <a:off x="1390996" y="6241867"/>
            <a:ext cx="9329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Lerobot</a:t>
            </a:r>
            <a:r>
              <a:rPr lang="en-US" altLang="ko-KR" b="1" dirty="0"/>
              <a:t> document -&gt; Add camara(ex 3)</a:t>
            </a:r>
            <a:r>
              <a:rPr lang="ko-KR" altLang="en-US" b="1" dirty="0"/>
              <a:t> </a:t>
            </a:r>
            <a:r>
              <a:rPr lang="en-US" altLang="ko-KR" b="1" dirty="0"/>
              <a:t>-&gt; using VLA Model </a:t>
            </a:r>
            <a:r>
              <a:rPr lang="en-US" altLang="ko-KR" b="1" dirty="0">
                <a:sym typeface="Wingdings" panose="05000000000000000000" pitchFamily="2" charset="2"/>
              </a:rPr>
              <a:t> add tactile sensor</a:t>
            </a:r>
            <a:r>
              <a:rPr lang="ko-KR" alt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9482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25F77B-73E3-8818-0987-FEBF12457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Doosan robot</a:t>
            </a:r>
            <a:endParaRPr lang="ko-KR" altLang="en-US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783335-1A1A-D74F-9BB4-CE1AB1A4B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89698"/>
            <a:ext cx="5474653" cy="3848991"/>
          </a:xfrm>
          <a:prstGeom prst="rect">
            <a:avLst/>
          </a:prstGeom>
        </p:spPr>
      </p:pic>
      <p:pic>
        <p:nvPicPr>
          <p:cNvPr id="7" name="그림 6" descr="이어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51B7F1-8022-D614-864D-A5BC804C3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12" y="1690688"/>
            <a:ext cx="4408735" cy="42480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58DC09-762D-D5F1-976C-8449DADBFA5D}"/>
              </a:ext>
            </a:extLst>
          </p:cNvPr>
          <p:cNvSpPr txBox="1"/>
          <p:nvPr/>
        </p:nvSpPr>
        <p:spPr>
          <a:xfrm>
            <a:off x="1640379" y="6251920"/>
            <a:ext cx="9637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VTLA </a:t>
            </a:r>
            <a:r>
              <a:rPr lang="ko-KR" altLang="en-US" sz="2000" b="1" dirty="0"/>
              <a:t>적용을 위한 이용을 해보고자 함</a:t>
            </a:r>
            <a:r>
              <a:rPr lang="en-US" altLang="ko-KR" sz="2000" b="1" dirty="0"/>
              <a:t>.. </a:t>
            </a:r>
            <a:r>
              <a:rPr lang="en-US" altLang="ko-KR" sz="2000" dirty="0"/>
              <a:t>(</a:t>
            </a:r>
            <a:r>
              <a:rPr lang="ko-KR" altLang="en-US" sz="2000" dirty="0"/>
              <a:t>통신 방식</a:t>
            </a:r>
            <a:r>
              <a:rPr lang="en-US" altLang="ko-KR" sz="2000" dirty="0"/>
              <a:t>, ROS </a:t>
            </a:r>
            <a:r>
              <a:rPr lang="ko-KR" altLang="en-US" sz="2000" dirty="0"/>
              <a:t>구동</a:t>
            </a:r>
            <a:r>
              <a:rPr lang="en-US" altLang="ko-KR" sz="2000" dirty="0"/>
              <a:t>, Model </a:t>
            </a:r>
            <a:r>
              <a:rPr lang="ko-KR" altLang="en-US" sz="2000" dirty="0"/>
              <a:t>연결</a:t>
            </a:r>
            <a:r>
              <a:rPr lang="en-US" altLang="ko-KR" sz="2000" dirty="0"/>
              <a:t>) </a:t>
            </a:r>
            <a:r>
              <a:rPr lang="ko-KR" altLang="en-US" sz="2000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CC7CFE-1314-2D8A-C321-CE3C5D4A373C}"/>
              </a:ext>
            </a:extLst>
          </p:cNvPr>
          <p:cNvSpPr txBox="1"/>
          <p:nvPr/>
        </p:nvSpPr>
        <p:spPr>
          <a:xfrm>
            <a:off x="7934528" y="1314802"/>
            <a:ext cx="21737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Robot Spec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33058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36D8E-0ACF-8803-CC0C-2A2F90F0E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10A42-DF04-91FA-A062-05A6A0C9A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664" y="2642813"/>
            <a:ext cx="4276899" cy="1325563"/>
          </a:xfrm>
        </p:spPr>
        <p:txBody>
          <a:bodyPr/>
          <a:lstStyle/>
          <a:p>
            <a:r>
              <a:rPr lang="en-US" altLang="ko-KR" dirty="0"/>
              <a:t>4. Question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6834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C7321F-BD0C-DA5F-6D60-EAC61B4A1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Lerobot</a:t>
            </a:r>
            <a:r>
              <a:rPr lang="en-US" altLang="ko-KR" dirty="0"/>
              <a:t> Koch1.1 &amp; Doosan </a:t>
            </a:r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C456CC4-F23A-82D9-8720-5514B4550391}"/>
              </a:ext>
            </a:extLst>
          </p:cNvPr>
          <p:cNvSpPr/>
          <p:nvPr/>
        </p:nvSpPr>
        <p:spPr>
          <a:xfrm>
            <a:off x="1446416" y="2122950"/>
            <a:ext cx="2604654" cy="55418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Env Setting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25FF9-E3D9-25E5-C703-C840B32AD495}"/>
              </a:ext>
            </a:extLst>
          </p:cNvPr>
          <p:cNvSpPr txBox="1"/>
          <p:nvPr/>
        </p:nvSpPr>
        <p:spPr>
          <a:xfrm>
            <a:off x="1778924" y="2970850"/>
            <a:ext cx="2665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GPU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Robot</a:t>
            </a:r>
            <a:endParaRPr lang="ko-KR" altLang="en-US" dirty="0"/>
          </a:p>
        </p:txBody>
      </p:sp>
      <p:pic>
        <p:nvPicPr>
          <p:cNvPr id="8" name="그림 7" descr="케이블, 전기 배선, 기계, 전자제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2E4C64-88FC-72F7-CBCB-45B11FA00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029" y="1993371"/>
            <a:ext cx="5920078" cy="380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634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E397A-734C-6E90-2350-03CE0DCE7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0E12B-C510-856B-1039-70BA542FE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Robot Kinematics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E4B626-E5E5-36B3-A743-55F9B4352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Recommend book , video or lecture</a:t>
            </a:r>
          </a:p>
          <a:p>
            <a:pPr marL="0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4924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993FD-96EB-16F6-47FB-0C5914D4E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3358C8-786A-6E59-0642-6EB433F5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Self question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487B2D-65B2-4B29-0A0D-80273C44E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FF0000"/>
                </a:solidFill>
              </a:rPr>
              <a:t>다른 로봇 데이터 셋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축이 다르거나 데이터가 </a:t>
            </a:r>
            <a:r>
              <a:rPr lang="ko-KR" altLang="en-US" dirty="0" err="1">
                <a:solidFill>
                  <a:srgbClr val="FF0000"/>
                </a:solidFill>
              </a:rPr>
              <a:t>다른경우</a:t>
            </a:r>
            <a:r>
              <a:rPr lang="en-US" altLang="ko-KR" dirty="0">
                <a:solidFill>
                  <a:srgbClr val="FF0000"/>
                </a:solidFill>
              </a:rPr>
              <a:t>) </a:t>
            </a:r>
            <a:r>
              <a:rPr lang="ko-KR" altLang="en-US" dirty="0">
                <a:solidFill>
                  <a:srgbClr val="FF0000"/>
                </a:solidFill>
              </a:rPr>
              <a:t>에 어떻게 적용할지</a:t>
            </a:r>
            <a:r>
              <a:rPr lang="en-US" altLang="ko-KR" dirty="0">
                <a:solidFill>
                  <a:srgbClr val="FF0000"/>
                </a:solidFill>
              </a:rPr>
              <a:t>??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Learner arm</a:t>
            </a:r>
            <a:r>
              <a:rPr lang="ko-KR" altLang="en-US" dirty="0">
                <a:solidFill>
                  <a:srgbClr val="FF0000"/>
                </a:solidFill>
              </a:rPr>
              <a:t>이 없어도 현재 내가 가지고 있는 환경에서 특정 </a:t>
            </a:r>
            <a:r>
              <a:rPr lang="ko-KR" altLang="en-US" dirty="0" err="1">
                <a:solidFill>
                  <a:srgbClr val="FF0000"/>
                </a:solidFill>
              </a:rPr>
              <a:t>애피소드를</a:t>
            </a:r>
            <a:r>
              <a:rPr lang="ko-KR" altLang="en-US" dirty="0">
                <a:solidFill>
                  <a:srgbClr val="FF0000"/>
                </a:solidFill>
              </a:rPr>
              <a:t> 수집할지</a:t>
            </a:r>
            <a:r>
              <a:rPr lang="en-US" altLang="ko-KR" dirty="0">
                <a:solidFill>
                  <a:srgbClr val="FF0000"/>
                </a:solidFill>
              </a:rPr>
              <a:t>??</a:t>
            </a:r>
          </a:p>
          <a:p>
            <a:r>
              <a:rPr lang="en-US" altLang="ko-KR" dirty="0" err="1">
                <a:solidFill>
                  <a:srgbClr val="FF0000"/>
                </a:solidFill>
              </a:rPr>
              <a:t>Smolvla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논문 더 이해 필요함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아키텍처 완전히 이해 못함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스스로 고민해보고자 해봄 진행하면서 필요시 더 찾아볼 예정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887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752351-D46C-C393-8004-079EC56CD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Doosan robot gripper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56656E-FB46-BD3D-07F7-19CC7C5F6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7685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655</Words>
  <Application>Microsoft Office PowerPoint</Application>
  <PresentationFormat>와이드스크린</PresentationFormat>
  <Paragraphs>151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Wingdings</vt:lpstr>
      <vt:lpstr>Office 테마</vt:lpstr>
      <vt:lpstr>Weekly Meeting</vt:lpstr>
      <vt:lpstr>Content</vt:lpstr>
      <vt:lpstr>1. Last week’s review</vt:lpstr>
      <vt:lpstr>Last week’s review</vt:lpstr>
      <vt:lpstr>2. Key Q&amp;A</vt:lpstr>
      <vt:lpstr>lmitation Learning vs VLA</vt:lpstr>
      <vt:lpstr>lmitation Learning vs VLA</vt:lpstr>
      <vt:lpstr>lmitation Learning vs VLA</vt:lpstr>
      <vt:lpstr>LLM vs VLM vs VLA: Inputs &amp; Outputs</vt:lpstr>
      <vt:lpstr>VLA Architecture: Vision Encoder vs LLM</vt:lpstr>
      <vt:lpstr>3. Future Research Area Overview(VLA &amp; VTLA)</vt:lpstr>
      <vt:lpstr>Koch1.1</vt:lpstr>
      <vt:lpstr>Doosan robot</vt:lpstr>
      <vt:lpstr>4. Question</vt:lpstr>
      <vt:lpstr>Lerobot Koch1.1 &amp; Doosan </vt:lpstr>
      <vt:lpstr>Robot Kinematics</vt:lpstr>
      <vt:lpstr>Self question</vt:lpstr>
      <vt:lpstr>Doosan robot gripper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건희 손</dc:creator>
  <cp:lastModifiedBy>건희 손</cp:lastModifiedBy>
  <cp:revision>80</cp:revision>
  <dcterms:created xsi:type="dcterms:W3CDTF">2026-02-20T04:05:39Z</dcterms:created>
  <dcterms:modified xsi:type="dcterms:W3CDTF">2026-02-20T08:07:35Z</dcterms:modified>
</cp:coreProperties>
</file>